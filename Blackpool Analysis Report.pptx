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D1B3E"/>
                </a:solidFill>
                <a:latin typeface="Arial"/>
              </a:rPr>
              <a:t>Inactivity Rate by Geography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Inactivity Rate (%)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0B-4915-93F9-B6C559C4210D}"/>
              </c:ext>
            </c:extLst>
          </c:dPt>
          <c:dPt>
            <c:idx val="1"/>
            <c:invertIfNegative val="0"/>
            <c:bubble3D val="0"/>
            <c:spPr>
              <a:solidFill>
                <a:srgbClr val="A8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0B-4915-93F9-B6C559C4210D}"/>
              </c:ext>
            </c:extLst>
          </c:dPt>
          <c:dPt>
            <c:idx val="2"/>
            <c:invertIfNegative val="0"/>
            <c:bubble3D val="0"/>
            <c:spPr>
              <a:solidFill>
                <a:srgbClr val="C8D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0B-4915-93F9-B6C559C421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Blackpool</c:v>
                </c:pt>
                <c:pt idx="1">
                  <c:v>North West</c:v>
                </c:pt>
                <c:pt idx="2">
                  <c:v>England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31.6</c:v>
                </c:pt>
                <c:pt idx="1">
                  <c:v>23.7</c:v>
                </c:pt>
                <c:pt idx="2">
                  <c:v>21.3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B0B-4915-93F9-B6C559C421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D1B3E"/>
                </a:solidFill>
                <a:latin typeface="Arial"/>
              </a:rPr>
              <a:t>Reasons for Economic Inactivity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BED-4F07-8BEF-D88464CF1C37}"/>
              </c:ext>
            </c:extLst>
          </c:dPt>
          <c:dPt>
            <c:idx val="1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ED-4F07-8BEF-D88464CF1C37}"/>
              </c:ext>
            </c:extLst>
          </c:dPt>
          <c:dPt>
            <c:idx val="2"/>
            <c:bubble3D val="0"/>
            <c:spPr>
              <a:solidFill>
                <a:srgbClr val="5BA4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ED-4F07-8BEF-D88464CF1C37}"/>
              </c:ext>
            </c:extLst>
          </c:dPt>
          <c:dPt>
            <c:idx val="3"/>
            <c:bubble3D val="0"/>
            <c:spPr>
              <a:solidFill>
                <a:srgbClr val="F4A0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ED-4F07-8BEF-D88464CF1C37}"/>
              </c:ext>
            </c:extLst>
          </c:dPt>
          <c:dPt>
            <c:idx val="4"/>
            <c:bubble3D val="0"/>
            <c:spPr>
              <a:solidFill>
                <a:srgbClr val="A8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BED-4F07-8BEF-D88464CF1C3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ED-4F07-8BEF-D88464CF1C3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ED-4F07-8BEF-D88464CF1C3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BED-4F07-8BEF-D88464CF1C3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ED-4F07-8BEF-D88464CF1C3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BED-4F07-8BEF-D88464CF1C3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Retired</c:v>
                </c:pt>
                <c:pt idx="1">
                  <c:v>Long-term sick</c:v>
                </c:pt>
                <c:pt idx="2">
                  <c:v>Looking after family</c:v>
                </c:pt>
                <c:pt idx="3">
                  <c:v>Other</c:v>
                </c:pt>
                <c:pt idx="4">
                  <c:v>Student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53.17</c:v>
                </c:pt>
                <c:pt idx="1">
                  <c:v>18.61</c:v>
                </c:pt>
                <c:pt idx="2">
                  <c:v>11.19</c:v>
                </c:pt>
                <c:pt idx="3">
                  <c:v>9.0399999999999991</c:v>
                </c:pt>
                <c:pt idx="4">
                  <c:v>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BED-4F07-8BEF-D88464CF1C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D1B3E"/>
                </a:solidFill>
                <a:latin typeface="Arial"/>
              </a:rPr>
              <a:t>Qualification Levels: Blackpool vs National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Blackpool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NVQ4+</c:v>
                </c:pt>
                <c:pt idx="1">
                  <c:v>NVQ3</c:v>
                </c:pt>
                <c:pt idx="2">
                  <c:v>NVQ2</c:v>
                </c:pt>
                <c:pt idx="3">
                  <c:v>NVQ1</c:v>
                </c:pt>
                <c:pt idx="4">
                  <c:v>No qualifications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21.5</c:v>
                </c:pt>
                <c:pt idx="2">
                  <c:v>23</c:v>
                </c:pt>
                <c:pt idx="3">
                  <c:v>15.5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94-4B5D-BEA5-79BA248BDF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National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NVQ4+</c:v>
                </c:pt>
                <c:pt idx="1">
                  <c:v>NVQ3</c:v>
                </c:pt>
                <c:pt idx="2">
                  <c:v>NVQ2</c:v>
                </c:pt>
                <c:pt idx="3">
                  <c:v>NVQ1</c:v>
                </c:pt>
                <c:pt idx="4">
                  <c:v>No qualifications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</c:v>
                </c:pt>
                <c:pt idx="1">
                  <c:v>24</c:v>
                </c:pt>
                <c:pt idx="2">
                  <c:v>15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94-4B5D-BEA5-79BA248BD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D1B3E"/>
                </a:solidFill>
                <a:latin typeface="Arial"/>
              </a:rPr>
              <a:t>Claimant &amp; Unemployment Rate by Geography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Claimant Rate (%)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Blackpool</c:v>
                </c:pt>
                <c:pt idx="1">
                  <c:v>North West</c:v>
                </c:pt>
                <c:pt idx="2">
                  <c:v>England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6.1</c:v>
                </c:pt>
                <c:pt idx="1">
                  <c:v>4.2</c:v>
                </c:pt>
                <c:pt idx="2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CB-4F86-9626-61806655DE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Unemployment Rate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Blackpool</c:v>
                </c:pt>
                <c:pt idx="1">
                  <c:v>North West</c:v>
                </c:pt>
                <c:pt idx="2">
                  <c:v>England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</c:v>
                </c:pt>
                <c:pt idx="1">
                  <c:v>4.4000000000000004</c:v>
                </c:pt>
                <c:pt idx="2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CB-4F86-9626-61806655DE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D1B3E"/>
                </a:solidFill>
                <a:latin typeface="Arial"/>
              </a:rPr>
              <a:t>Population Subgroups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solidFill>
              <a:srgbClr val="0D1B3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Total population</c:v>
                </c:pt>
                <c:pt idx="1">
                  <c:v>Aged 16–64</c:v>
                </c:pt>
                <c:pt idx="2">
                  <c:v>Non-disabled</c:v>
                </c:pt>
                <c:pt idx="3">
                  <c:v>Female</c:v>
                </c:pt>
                <c:pt idx="4">
                  <c:v>Male</c:v>
                </c:pt>
                <c:pt idx="5">
                  <c:v>Disabled</c:v>
                </c:pt>
                <c:pt idx="6">
                  <c:v>65+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120000</c:v>
                </c:pt>
                <c:pt idx="1">
                  <c:v>75000</c:v>
                </c:pt>
                <c:pt idx="2">
                  <c:v>62000</c:v>
                </c:pt>
                <c:pt idx="3">
                  <c:v>38000</c:v>
                </c:pt>
                <c:pt idx="4">
                  <c:v>37000</c:v>
                </c:pt>
                <c:pt idx="5">
                  <c:v>18000</c:v>
                </c:pt>
                <c:pt idx="6">
                  <c:v>16000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8F-4DCC-A0B6-F699996A97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94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4A024">
              <a:alpha val="12000"/>
            </a:srgbClr>
          </a:solidFill>
          <a:ln w="12700">
            <a:solidFill>
              <a:srgbClr val="F4A02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0" y="457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67512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1463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67512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Inactivity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751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ANALYSIS  •  JAN 2025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Blackpool Council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1600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A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employment landscape 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Fedcap Employment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1879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Oluwatosin Akindolie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2860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2926080"/>
            <a:ext cx="411480" cy="54864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2860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Data Analysis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Blackpool Council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365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7772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Blackpool has one of the highest unemployment rates in the UK - 8.6% of the working-age population, nearly double the national average of 4.3%. Combined with high economic inactivity, this has created significant dependency on benefits and workforce shortages.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2176272"/>
            <a:ext cx="384048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7764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employment challenges including high unemployment (8.6%) and economic inactivity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999232"/>
            <a:ext cx="384048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factors contributing to skills gaps and limited access to long-term career opportunities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3822192"/>
            <a:ext cx="384048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474720" y="3840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7764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strategic opportunities for Fedcap Employment to intervene effectively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4.3% national avg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679192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Blackpool's unemployment rate is nearly double the national average, with youth disproportionately affected, driving higher dependency on allowance claims.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743200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55848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55848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21.3% England avg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19456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55848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Inactivity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2679192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 greater share of working-age residents are not in work or seeking employment. Key drivers include retirement, long-term sickness, and caregiving responsibilities.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3056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163056" y="1097280"/>
            <a:ext cx="2743200" cy="109728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300216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A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00216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0216" y="219456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00216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Employment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0216" y="2679192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 youth unemployment and only 38.4% in full-time education point to systemic challenges for young people entering the workforce.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FEDCAP EMPLOYMENT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38912" y="1280160"/>
            <a:ext cx="457200" cy="4572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38912" y="12893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180136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Funding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103120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Blackpool Council to leverage funding schemes targeting youth employment, especially those aged 18-25.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873752" y="1280160"/>
            <a:ext cx="457200" cy="4572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873752" y="12893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73752" y="180136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73752" y="2103120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tailored training programmes for residents with basic qualifications to improve long-term employability prospects.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38912" y="3200400"/>
            <a:ext cx="457200" cy="4572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438912" y="32095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38912" y="372160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Scheme Expansion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38912" y="4023360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Restart Scheme to address the specific needs of young jobseekers given the 14.2% youth unemployment rate.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4873752" y="3200400"/>
            <a:ext cx="457200" cy="4572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4873752" y="32095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73752" y="372160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Vulnerable Groups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873752" y="4023360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specialised Work &amp; Health programmes promoting flexible roles, workplace adjustments, and confidence-building for those facing health or caregiving barriers.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4A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Blackpool's employment data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Office for National Statistics (ONS)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Blackpool's inactivity rate is 48% higher than the England average - driven primarily by retirement (53%) and long-term sickness.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508760"/>
          <a:ext cx="4389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846320" y="150876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Employment &amp; Qualifications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819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Education, Employment or Training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88920" cy="914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37560" y="1115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5819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16-24 year-olds unemployed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788920" cy="91440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309360" y="1115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5819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Education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people in full-time study</a:t>
            </a:r>
            <a:endParaRPr lang="en-US" sz="8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28600" y="2377440"/>
          <a:ext cx="8686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&amp; Claimant Rate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8755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Blackpool's claimant rate (6.1%) significantly exceeds both the Northwest (4.2%) and England (3.8%) - reflecting sustained long-term unemployment challenges.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630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1463040"/>
          <a:ext cx="35661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97280" cy="64008"/>
          </a:xfrm>
          <a:prstGeom prst="rect">
            <a:avLst/>
          </a:prstGeom>
          <a:solidFill>
            <a:srgbClr val="F4A024"/>
          </a:solidFill>
          <a:ln w="12700">
            <a:solidFill>
              <a:srgbClr val="F4A0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the Office for National Statistics (ONS).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prepared for Fedcap Employment, January 2025.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3200400" cy="868680"/>
          </a:xfrm>
          <a:prstGeom prst="rect">
            <a:avLst/>
          </a:prstGeom>
          <a:solidFill>
            <a:srgbClr val="0E7C86">
              <a:alpha val="20000"/>
            </a:srgbClr>
          </a:solidFill>
          <a:ln w="12700">
            <a:solidFill>
              <a:srgbClr val="0E7C8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Oluwatosin Akindolie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Analysis  •  Jan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492</Words>
  <Application>Microsoft Office PowerPoint</Application>
  <PresentationFormat>On-screen Show (16:9)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Blackpool Council Analysis Report</dc:title>
  <dc:subject>PptxGenJS Presentation</dc:subject>
  <dc:creator>Oluwatosin Akindolie</dc:creator>
  <cp:lastModifiedBy>Oluwatosin Akindolie</cp:lastModifiedBy>
  <cp:revision>3</cp:revision>
  <dcterms:created xsi:type="dcterms:W3CDTF">2026-05-17T18:24:17Z</dcterms:created>
  <dcterms:modified xsi:type="dcterms:W3CDTF">2026-05-18T07:58:10Z</dcterms:modified>
</cp:coreProperties>
</file>