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2" r:id="rId5"/>
    <p:sldId id="267" r:id="rId6"/>
    <p:sldId id="259" r:id="rId7"/>
    <p:sldId id="265" r:id="rId8"/>
    <p:sldId id="260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2685" autoAdjust="0"/>
  </p:normalViewPr>
  <p:slideViewPr>
    <p:cSldViewPr snapToGrid="0">
      <p:cViewPr varScale="1">
        <p:scale>
          <a:sx n="52" d="100"/>
          <a:sy n="52" d="100"/>
        </p:scale>
        <p:origin x="438" y="66"/>
      </p:cViewPr>
      <p:guideLst/>
    </p:cSldViewPr>
  </p:slideViewPr>
  <p:outlineViewPr>
    <p:cViewPr>
      <p:scale>
        <a:sx n="33" d="100"/>
        <a:sy n="33" d="100"/>
      </p:scale>
      <p:origin x="0" y="-515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0AB5F-E1D6-462A-A5C4-94FAC679538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E5360-D733-436B-9335-C9C76D1F8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2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E5360-D733-436B-9335-C9C76D1F838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073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27ED-5704-BDB9-73B8-91C2F14C4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861A4-AF88-D140-C4D6-A7EC3344C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EC87-C9AD-1C40-21A1-C9141A25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7A435-8B30-4D8C-1F61-1075611E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57F2-EBAC-ECDE-E3FD-79C4D68D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46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1508-6C36-7DBF-B08A-4A7E5B25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AA3DE-46A0-37A9-5765-1F190B883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3C0F2-5F19-AA2F-E61E-40A9962A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0E3C4-DEF8-FDD3-DF91-9C9D4FF3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D07A4-ACA6-30C7-C2B9-B1E447F8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5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0A4A-E042-77E5-5F9F-7509739A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1D118-1B92-E8D7-B60B-9781A0074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1F3CB-CA4D-BDF5-577D-A5CF260D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A4746-1D17-9D09-9A6C-36AD1FCC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7FDE8-0B70-94AE-6B62-56ED9446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58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7D8C-D488-5CDB-47A2-160DF48E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D6558-DFEC-A455-37D4-A86DD5F57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B4CF1-5EB0-322C-2388-95998F35D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6E722-82A1-91B1-C542-EE59E5FD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50F6-A550-0F8F-E302-3267C683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53639-4CB1-31EE-7972-ED8E0D25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63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E66B-7E8B-2DEC-983E-B1B87042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B7D69-C4F1-4820-2FF2-D7F1740D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0438E-A735-EC90-9866-55BCAD69C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BB7A2-62FA-737A-1EE8-D246EC22D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4F431-AF8B-3721-9E34-329694B49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09A80-7F20-FC01-659E-44BAE8FA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67D3E-1427-A17C-EEF0-883322BA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0A5DC-9FC3-B850-AAEC-CCDB92E9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18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1D1-97EC-0168-F0E9-A954C899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F1070-2743-CBE7-BBA2-29A4BEDF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4AD91-9F98-C31B-C6AE-F28FD91D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E846D-38B4-BBAC-6AEF-E5D53BEE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82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E986E-8B5A-E3CC-7649-D2892E7F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0FD31-B597-DBDB-6066-89879208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A457-4DBA-FB3D-B3BE-D84095C3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57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B894F-2D04-6748-55A9-C94E86C6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260E4-7950-1820-846C-7A183929C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28B19-FE32-A1B4-CB46-462F831F5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51310-E348-B7A7-9871-129EF746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9233B-6DF5-CCD8-9F0E-028154D1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E523F-1DDF-E98D-5185-C9EEE807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61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1F3A-9D61-3FCA-AA97-C67A4C657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E0DFE-9994-E2B2-E95D-298758EF8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F4C4F-80C1-86E4-1AAD-910175C1A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10FF0-EA34-10B9-AE2B-A9DE9416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1E730-C61E-B337-5BFA-4E4254E1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E5E5E-97AE-4266-3A7E-2C756B6B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94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9954-B107-AD46-D69C-E6CC7D35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0582D-6728-8C6A-05C8-37525C1D4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B8F1-218C-23DE-E77F-6FF1D403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48A0-82FF-7E73-6647-D2F70880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7A73C-3F74-C8A1-433C-CEA08C7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16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39AE0-F010-B575-AB12-C2C1C292D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3D0D3-1175-D4AB-7F1A-2FFAEEC62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0DE3-30BA-35C7-1C49-815A9AFD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C4290-AC51-31F5-6784-BB74D39E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210A-7397-102E-2A69-DD625B8A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98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7BD5C2-A630-7215-217E-9A27E9200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55595-ADD8-6086-6A2B-AD914EE3C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0574E-0046-7BEC-008E-995140792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0F6F6-826F-48F2-833A-D036249065B6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69A8F-324A-2B7E-F377-09021EE7F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79E26-71CD-6EA7-74D6-4C91343CB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05D48-FEBA-45D4-90A4-6AAA3E439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3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AEA5-A571-B0D7-DE89-B2CA7F8BE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8" y="625748"/>
            <a:ext cx="11272345" cy="3128105"/>
          </a:xfrm>
        </p:spPr>
        <p:txBody>
          <a:bodyPr>
            <a:normAutofit/>
          </a:bodyPr>
          <a:lstStyle/>
          <a:p>
            <a:r>
              <a:rPr lang="en-GB" sz="2800" b="1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Blackpool Council Analysis Report</a:t>
            </a:r>
            <a:br>
              <a:rPr lang="en-GB" sz="2800" b="1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GB" sz="2800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Overview of the employment landscape and opportunities for Fedcap Employment</a:t>
            </a:r>
            <a:endParaRPr lang="en-GB" sz="2800" dirty="0">
              <a:solidFill>
                <a:schemeClr val="tx2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2AF43-64DA-40DE-EEBE-B85058782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245" y="5202238"/>
            <a:ext cx="11682249" cy="1655762"/>
          </a:xfrm>
        </p:spPr>
        <p:txBody>
          <a:bodyPr>
            <a:normAutofit/>
          </a:bodyPr>
          <a:lstStyle/>
          <a:p>
            <a:pPr algn="l"/>
            <a:endParaRPr lang="en-GB" sz="1800">
              <a:solidFill>
                <a:schemeClr val="bg1"/>
              </a:solidFill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en-GB" sz="1800" b="1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Oluwatosin Akindolie </a:t>
            </a:r>
          </a:p>
          <a:p>
            <a:pPr algn="l"/>
            <a:r>
              <a:rPr lang="en-GB" sz="1800" b="1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Jan 2025</a:t>
            </a:r>
          </a:p>
          <a:p>
            <a:pPr algn="l"/>
            <a:r>
              <a:rPr lang="en-GB" sz="180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19/01/2025</a:t>
            </a:r>
            <a:endParaRPr lang="en-GB" sz="1800" dirty="0">
              <a:solidFill>
                <a:schemeClr val="bg1"/>
              </a:solidFill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14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7BE2-9437-3153-73FC-6273EFA6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Report Overview</a:t>
            </a:r>
            <a:endParaRPr lang="en-GB" sz="2800" b="1" dirty="0">
              <a:solidFill>
                <a:schemeClr val="tx2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A986-FBA4-A075-B884-F9304A00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856" y="159397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Blackpool has one of the highest unemployment rates in the UK, with around 8.6% of the working-age population unemployed, compared to the national average of 4.3%. This, combined with a high level of economic inactivity, has had a significant impact on the local economy in terms of increased dependency on benefits, lower workforce and many more.</a:t>
            </a:r>
          </a:p>
          <a:p>
            <a:pPr marL="0" indent="0">
              <a:buNone/>
            </a:pPr>
            <a:endParaRPr lang="en-GB" sz="160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en-GB" sz="1600" b="1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Objective</a:t>
            </a:r>
          </a:p>
          <a:p>
            <a:pPr marL="0" indent="0">
              <a:buNone/>
            </a:pPr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Using employment data from ONS, this report aims to identify;</a:t>
            </a:r>
          </a:p>
          <a:p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The key employment challenges facing Blackpool, including high unemployment (8.6%) and economic inactivity.</a:t>
            </a:r>
          </a:p>
          <a:p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The factors contributing to skills gaps and limited access to long-term career opportunities.</a:t>
            </a:r>
          </a:p>
          <a:p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Potential opportunities for Fedcap Employment</a:t>
            </a:r>
            <a:endParaRPr lang="en-GB" sz="1600" dirty="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9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5827CA-9B65-045E-F568-9A9A6037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Key Insights</a:t>
            </a:r>
            <a:endParaRPr lang="en-GB" sz="2800" b="1" dirty="0">
              <a:solidFill>
                <a:schemeClr val="tx2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54A862-44E6-D5C9-647F-87A13E546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Blackpool’s unemployment rate is higher than the national average, especially among youth leading to more reliance on allowance claim.</a:t>
            </a:r>
          </a:p>
          <a:p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Blackpool's economic inactivity rate (31.6%) is higher than both the Northwest (23.7%) and England (21.3%) averages, suggesting a greater proportion of the population is not engaged in work or actively seeking employment. Key reasons for economic inactivity include retirement, long-term sickness/disability, and caregiving responsibilities.</a:t>
            </a:r>
          </a:p>
          <a:p>
            <a:r>
              <a:rPr lang="en-GB" sz="16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Youth employment challenges are evident in Blackpool, with a 12.8% NEET rate, 14.2% youth unemployment, and only 38.4% in full-time education, pointing to opportunities for targeted support and engagement.</a:t>
            </a:r>
          </a:p>
          <a:p>
            <a:endParaRPr lang="en-GB" sz="1600">
              <a:latin typeface="+mj-lt"/>
            </a:endParaRPr>
          </a:p>
          <a:p>
            <a:endParaRPr lang="en-GB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419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C877-7611-7355-4879-C55574F4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Opportunities for Fedcap Employment</a:t>
            </a:r>
            <a:endParaRPr lang="en-GB" sz="2800" b="1" dirty="0">
              <a:solidFill>
                <a:schemeClr val="tx2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E0EB9B-BBE5-F6D1-EA37-92588D9B8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Opportunity to Secure Funding</a:t>
            </a:r>
          </a:p>
          <a:p>
            <a:r>
              <a:rPr lang="en-GB" sz="14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Fedcap Employment can leverage funding opportunities for schemes targeting youth employment, especially those aged 18–25, by collaborating with Blackpool Council.</a:t>
            </a:r>
          </a:p>
          <a:p>
            <a:pPr marL="0" indent="0">
              <a:buNone/>
            </a:pPr>
            <a:r>
              <a:rPr lang="en-GB" sz="1600" b="1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Targeted Skills Development</a:t>
            </a:r>
          </a:p>
          <a:p>
            <a:r>
              <a:rPr lang="en-GB" sz="14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With a significant proportion of Blackpool residents holding only basic qualifications, there is a strong opportunity for Fedcap Employment to offer tailored skills development and training programmes to improve employability.</a:t>
            </a:r>
          </a:p>
          <a:p>
            <a:pPr marL="0" indent="0">
              <a:buNone/>
            </a:pPr>
            <a:r>
              <a:rPr lang="en-GB" sz="1600" b="1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Expansion of the Restart Scheme</a:t>
            </a:r>
          </a:p>
          <a:p>
            <a:r>
              <a:rPr lang="en-GB" sz="14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Blackpool's youth unemployment rate of 14.2% highlights a clear opportunity for Fedcap Employment to expand its Restart Scheme, addressing the specific needs of young jobseekers.</a:t>
            </a:r>
          </a:p>
          <a:p>
            <a:pPr marL="0" indent="0">
              <a:buNone/>
            </a:pPr>
            <a:r>
              <a:rPr lang="en-GB" sz="1600" b="1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Support for Vulnerable Groups</a:t>
            </a:r>
          </a:p>
          <a:p>
            <a:r>
              <a:rPr lang="en-GB" sz="140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Many Blackpool residents face barriers to work due to long-term health conditions or caregiving responsibilities. Opportunity for Fedcap Employment (Work and Health programme) or developing specialised programmes to support these groups by promoting flexible roles, workplace adjustments, and confidence-building initiatives.</a:t>
            </a:r>
            <a:endParaRPr lang="en-GB" sz="1400" dirty="0"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0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BB8F4-CE96-AC8A-73FB-72AC263F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444" y="2404544"/>
            <a:ext cx="10515600" cy="1325563"/>
          </a:xfrm>
        </p:spPr>
        <p:txBody>
          <a:bodyPr/>
          <a:lstStyle/>
          <a:p>
            <a:r>
              <a:rPr lang="en-GB" b="1">
                <a:solidFill>
                  <a:schemeClr val="tx2"/>
                </a:solidFill>
              </a:rPr>
              <a:t>ANALYSIS</a:t>
            </a:r>
            <a:endParaRPr lang="en-GB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37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2048-A821-CB72-AA2F-65D1B708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Blackpool faces a significant rate of economic inactivity, which is notably high compared to national averages. The key contributors to this inactivity are retirement and long-term disability, which limit the number of working-age individuals actively participating in the labour market.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1A5586-7A30-65A9-F8DD-042FD871A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Economic Inactivity Rate</a:t>
            </a:r>
          </a:p>
        </p:txBody>
      </p:sp>
      <p:pic>
        <p:nvPicPr>
          <p:cNvPr id="19" name="Content Placeholder 18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2D152A1D-A497-7B2D-829D-5340A14F9B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13687"/>
            <a:ext cx="5157787" cy="3467364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332442C-8B36-615D-A537-6CAF8B829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Reasons for Inactivity</a:t>
            </a:r>
          </a:p>
        </p:txBody>
      </p:sp>
      <p:pic>
        <p:nvPicPr>
          <p:cNvPr id="27" name="Content Placeholder 26" descr="A pie chart with text&#10;&#10;Description automatically generated">
            <a:extLst>
              <a:ext uri="{FF2B5EF4-FFF2-40B4-BE49-F238E27FC236}">
                <a16:creationId xmlns:a16="http://schemas.microsoft.com/office/drawing/2014/main" id="{D19B1EA4-9215-31B2-7369-5A69B4BD3D0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63943"/>
            <a:ext cx="5183188" cy="3566851"/>
          </a:xfrm>
        </p:spPr>
      </p:pic>
    </p:spTree>
    <p:extLst>
      <p:ext uri="{BB962C8B-B14F-4D97-AF65-F5344CB8AC3E}">
        <p14:creationId xmlns:p14="http://schemas.microsoft.com/office/powerpoint/2010/main" val="384199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CAE-D9D2-93A1-0114-78E65835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>
                <a:solidFill>
                  <a:schemeClr val="tx2"/>
                </a:solidFill>
              </a:rPr>
              <a:t>Youth employment challenges are evident in Blackpool, with a 12.8% NEET rate, 14.2% youth unemployment, and only 38.4% in full-time education, pointing to opportunities for targeted support and engagement.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6749D-4DDC-FF3B-F8E5-CD5BC70CA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Qualification Levels</a:t>
            </a:r>
          </a:p>
        </p:txBody>
      </p:sp>
      <p:pic>
        <p:nvPicPr>
          <p:cNvPr id="8" name="Content Placeholder 7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A884B46E-17F7-2267-C0AD-96A9F007DF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63549"/>
            <a:ext cx="5157787" cy="356763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8AC2D-59CB-C353-F2C5-647190BB9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Youth Statistics</a:t>
            </a:r>
          </a:p>
        </p:txBody>
      </p:sp>
      <p:pic>
        <p:nvPicPr>
          <p:cNvPr id="10" name="Content Placeholder 9" descr="A screenshot of a survey&#10;&#10;Description automatically generated">
            <a:extLst>
              <a:ext uri="{FF2B5EF4-FFF2-40B4-BE49-F238E27FC236}">
                <a16:creationId xmlns:a16="http://schemas.microsoft.com/office/drawing/2014/main" id="{18487626-B5AA-A824-7667-B1936B7C74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111" y="2505075"/>
            <a:ext cx="5083366" cy="3684588"/>
          </a:xfrm>
        </p:spPr>
      </p:pic>
    </p:spTree>
    <p:extLst>
      <p:ext uri="{BB962C8B-B14F-4D97-AF65-F5344CB8AC3E}">
        <p14:creationId xmlns:p14="http://schemas.microsoft.com/office/powerpoint/2010/main" val="19353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8C61-6F79-8A1F-0554-12B517D7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>
                <a:solidFill>
                  <a:schemeClr val="tx2"/>
                </a:solidFill>
                <a:ea typeface="Roboto" panose="02000000000000000000" pitchFamily="2" charset="0"/>
                <a:cs typeface="Roboto" panose="02000000000000000000" pitchFamily="2" charset="0"/>
              </a:rPr>
              <a:t>Blackpool’s unemployment rate is higher than the national average, especially among youth leading to more reliance on allowance claim.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5DB06-E197-F4D1-D568-AB71348A3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Unemployment &amp; Claimant Rate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0B251-02AE-E0F6-A9DE-4FBAA7E6B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Population Subgroup</a:t>
            </a:r>
          </a:p>
        </p:txBody>
      </p:sp>
      <p:pic>
        <p:nvPicPr>
          <p:cNvPr id="8" name="Content Placeholder 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C0F79CF6-09AA-6686-392D-290FDF01FBD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50028"/>
            <a:ext cx="5183188" cy="3594681"/>
          </a:xfr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A03EBE4-BF38-8124-324C-3D1A0B69F237}"/>
              </a:ext>
            </a:extLst>
          </p:cNvPr>
          <p:cNvSpPr/>
          <p:nvPr/>
        </p:nvSpPr>
        <p:spPr>
          <a:xfrm>
            <a:off x="4794738" y="3006726"/>
            <a:ext cx="7033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Content Placeholder 1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61C72236-5042-D768-DA4B-842E9C3A3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72683"/>
            <a:ext cx="5157787" cy="3549371"/>
          </a:xfrm>
        </p:spPr>
      </p:pic>
    </p:spTree>
    <p:extLst>
      <p:ext uri="{BB962C8B-B14F-4D97-AF65-F5344CB8AC3E}">
        <p14:creationId xmlns:p14="http://schemas.microsoft.com/office/powerpoint/2010/main" val="42835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000B3E-A0A4-7EF7-A5B6-B5B279A0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90" y="2499518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84560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8BB9-5A6B-B03B-88A0-6A1224F0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81" y="2556668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170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8667</TotalTime>
  <Words>525</Words>
  <Application>Microsoft Office PowerPoint</Application>
  <PresentationFormat>Widescreen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Roboto</vt:lpstr>
      <vt:lpstr>Office Theme</vt:lpstr>
      <vt:lpstr>Blackpool Council Analysis Report Overview of the employment landscape and opportunities for Fedcap Employment</vt:lpstr>
      <vt:lpstr>Report Overview</vt:lpstr>
      <vt:lpstr>Key Insights</vt:lpstr>
      <vt:lpstr>Opportunities for Fedcap Employment</vt:lpstr>
      <vt:lpstr>ANALYSIS</vt:lpstr>
      <vt:lpstr>Blackpool faces a significant rate of economic inactivity, which is notably high compared to national averages. The key contributors to this inactivity are retirement and long-term disability, which limit the number of working-age individuals actively participating in the labour market.</vt:lpstr>
      <vt:lpstr>Youth employment challenges are evident in Blackpool, with a 12.8% NEET rate, 14.2% youth unemployment, and only 38.4% in full-time education, pointing to opportunities for targeted support and engagement.</vt:lpstr>
      <vt:lpstr>Blackpool’s unemployment rate is higher than the national average, especially among youth leading to more reliance on allowance claim.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Oluwatosin Akindolie</dc:creator>
  <cp:lastModifiedBy>Oluwatosin Akindolie</cp:lastModifiedBy>
  <cp:revision>5</cp:revision>
  <dcterms:created xsi:type="dcterms:W3CDTF">2025-01-19T11:40:43Z</dcterms:created>
  <dcterms:modified xsi:type="dcterms:W3CDTF">2025-08-23T13:07:16Z</dcterms:modified>
</cp:coreProperties>
</file>